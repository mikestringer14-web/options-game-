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Cost ($)</c:v>
                </c:pt>
              </c:strCache>
            </c:strRef>
          </c:tx>
          <c:spPr>
            <a:solidFill>
              <a:srgbClr val="5C6670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0232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C667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C667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C667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1502E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Agency
(Low)</c:v>
                  </c:pt>
                  <c:pt idx="1">
                    <c:v>Agency
(Typical)</c:v>
                  </c:pt>
                  <c:pt idx="2">
                    <c:v>Agency
(High)</c:v>
                  </c:pt>
                  <c:pt idx="3">
                    <c:v>In-House
(Me)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36000</c:v>
                </c:pt>
                <c:pt idx="1">
                  <c:v>66000</c:v>
                </c:pt>
                <c:pt idx="2">
                  <c:v>96000</c:v>
                </c:pt>
                <c:pt idx="3">
                  <c:v>48000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0232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3696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DEDED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3696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6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28000"/>
          </a:blip>
          <a:stretch>
            <a:fillRect/>
          </a:stretch>
        </p:blipFill>
        <p:spPr>
          <a:xfrm>
            <a:off x="8869680" y="1554480"/>
            <a:ext cx="2834640" cy="28346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PROPOSAL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237744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AI Strategy for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Gerry's Roofing &amp; Siding Inc.</a:t>
            </a:r>
            <a:endParaRPr lang="en-US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41605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9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run in-house by someone who already knows the business — not an outside agency guessing at it.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22960" y="5074920"/>
            <a:ext cx="2011680" cy="0"/>
          </a:xfrm>
          <a:prstGeom prst="line">
            <a:avLst/>
          </a:prstGeom>
          <a:noFill/>
          <a:ln w="25400">
            <a:solidFill>
              <a:srgbClr val="C1502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5257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Mike Stringer</a:t>
            </a:r>
            <a:pPr indent="0" marL="0">
              <a:buNone/>
            </a:pPr>
            <a:r>
              <a:rPr lang="en-US" sz="1300" dirty="0">
                <a:solidFill>
                  <a:srgbClr val="8B9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Community Outreach Representative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5623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3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 Companies Are Stuck Between Two Bad Options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166360" cy="2880360"/>
          </a:xfrm>
          <a:prstGeom prst="roundRect">
            <a:avLst>
              <a:gd name="adj" fmla="val 3810"/>
            </a:avLst>
          </a:prstGeom>
          <a:solidFill>
            <a:srgbClr val="F5F6F7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2240280"/>
            <a:ext cx="566928" cy="566928"/>
          </a:xfrm>
          <a:prstGeom prst="ellipse">
            <a:avLst/>
          </a:prstGeom>
          <a:solidFill>
            <a:srgbClr val="5C667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377440"/>
            <a:ext cx="292608" cy="29260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05840" y="301752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023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Nothing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005840" y="3520440"/>
            <a:ext cx="4434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36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go cold overnight. Admin work eats hours that should go to selling. Reviews pile up unmanaged. “We'll get to AI eventually” becomes the permanent plan.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309360" y="1874520"/>
            <a:ext cx="5166360" cy="2880360"/>
          </a:xfrm>
          <a:prstGeom prst="roundRect">
            <a:avLst>
              <a:gd name="adj" fmla="val 3810"/>
            </a:avLst>
          </a:prstGeom>
          <a:solidFill>
            <a:srgbClr val="F5F6F7"/>
          </a:solidFill>
          <a:ln/>
        </p:spPr>
      </p:sp>
      <p:sp>
        <p:nvSpPr>
          <p:cNvPr id="10" name="Shape 7"/>
          <p:cNvSpPr/>
          <p:nvPr/>
        </p:nvSpPr>
        <p:spPr>
          <a:xfrm>
            <a:off x="6675120" y="2240280"/>
            <a:ext cx="566928" cy="566928"/>
          </a:xfrm>
          <a:prstGeom prst="ellipse">
            <a:avLst/>
          </a:prstGeom>
          <a:solidFill>
            <a:srgbClr val="C1502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237744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675120" y="301752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023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Hire an Outside Agency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6675120" y="3520440"/>
            <a:ext cx="4434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36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$3,000–$8,000/month retainers for a firm that has never sold a roof. Generic playbooks, slow turnaround, and you're funding their learning curve on your dime.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40080" y="5074920"/>
            <a:ext cx="10835640" cy="685800"/>
          </a:xfrm>
          <a:prstGeom prst="roundRect">
            <a:avLst>
              <a:gd name="adj" fmla="val 13333"/>
            </a:avLst>
          </a:prstGeom>
          <a:solidFill>
            <a:srgbClr val="F4E2DA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822960" y="5074920"/>
            <a:ext cx="10469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C15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Gerry's doesn't have to choose between falling behind and overpaying.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3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Concrete AI Use Cases — Not Buzzwords  (1 of 2)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166360" cy="1965960"/>
          </a:xfrm>
          <a:prstGeom prst="roundRect">
            <a:avLst>
              <a:gd name="adj" fmla="val 4651"/>
            </a:avLst>
          </a:prstGeom>
          <a:solidFill>
            <a:srgbClr val="F5F6F7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48840"/>
            <a:ext cx="502920" cy="502920"/>
          </a:xfrm>
          <a:prstGeom prst="ellipse">
            <a:avLst/>
          </a:prstGeom>
          <a:solidFill>
            <a:srgbClr val="C1502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286000"/>
            <a:ext cx="228600" cy="228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2130552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3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AI-Qualified Lead Scoring for Canvassing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274320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36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doors and routes by conversion likelihood using past visit outcomes, so reps spend more time on blocks that actually close.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3456432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 </a:t>
            </a:r>
            <a:pPr indent="0" marL="0">
              <a:buNone/>
            </a:pPr>
            <a:r>
              <a:rPr lang="en-US" sz="1050" dirty="0">
                <a:solidFill>
                  <a:srgbClr val="2023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15–20% lift in door-to-appointment conversion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309360" y="1874520"/>
            <a:ext cx="5166360" cy="1965960"/>
          </a:xfrm>
          <a:prstGeom prst="roundRect">
            <a:avLst>
              <a:gd name="adj" fmla="val 4651"/>
            </a:avLst>
          </a:prstGeom>
          <a:solidFill>
            <a:srgbClr val="F5F6F7"/>
          </a:solidFill>
          <a:ln/>
        </p:spPr>
      </p:sp>
      <p:sp>
        <p:nvSpPr>
          <p:cNvPr id="11" name="Shape 8"/>
          <p:cNvSpPr/>
          <p:nvPr/>
        </p:nvSpPr>
        <p:spPr>
          <a:xfrm>
            <a:off x="6583680" y="2148840"/>
            <a:ext cx="502920" cy="502920"/>
          </a:xfrm>
          <a:prstGeom prst="ellipse">
            <a:avLst/>
          </a:prstGeom>
          <a:solidFill>
            <a:srgbClr val="C1502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286000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223760" y="2130552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3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Follow-Up on Stalled Quotes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6583680" y="274320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36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Auto-sequenced texts/emails for quoted-but-not-closed leads, so no quote goes cold from a rep simply running out of hours.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6583680" y="3456432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 </a:t>
            </a:r>
            <a:pPr indent="0" marL="0">
              <a:buNone/>
            </a:pPr>
            <a:r>
              <a:rPr lang="en-US" sz="1050" dirty="0">
                <a:solidFill>
                  <a:srgbClr val="2023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Recovers 10–15% of stalled quotes — a few extra $8–$15K jobs/month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40080" y="4160520"/>
            <a:ext cx="5166360" cy="1965960"/>
          </a:xfrm>
          <a:prstGeom prst="roundRect">
            <a:avLst>
              <a:gd name="adj" fmla="val 4651"/>
            </a:avLst>
          </a:prstGeom>
          <a:solidFill>
            <a:srgbClr val="F5F6F7"/>
          </a:solidFill>
          <a:ln/>
        </p:spPr>
      </p:sp>
      <p:sp>
        <p:nvSpPr>
          <p:cNvPr id="17" name="Shape 13"/>
          <p:cNvSpPr/>
          <p:nvPr/>
        </p:nvSpPr>
        <p:spPr>
          <a:xfrm>
            <a:off x="914400" y="4434840"/>
            <a:ext cx="502920" cy="502920"/>
          </a:xfrm>
          <a:prstGeom prst="ellipse">
            <a:avLst/>
          </a:prstGeom>
          <a:solidFill>
            <a:srgbClr val="C1502E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4572000"/>
            <a:ext cx="228600" cy="2286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554480" y="4416552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3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AI-Drafted Proposals &amp; Quotes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914400" y="502920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36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the quote document the moment the estimate is set, cutting the lag between site visit and a proposal in the customer's inbox.</a:t>
            </a:r>
            <a:endParaRPr lang="en-US" sz="1150" dirty="0"/>
          </a:p>
        </p:txBody>
      </p:sp>
      <p:sp>
        <p:nvSpPr>
          <p:cNvPr id="21" name="Text 16"/>
          <p:cNvSpPr txBox="1"/>
          <p:nvPr/>
        </p:nvSpPr>
        <p:spPr>
          <a:xfrm>
            <a:off x="914400" y="5742432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 </a:t>
            </a:r>
            <a:pPr indent="0" marL="0">
              <a:buNone/>
            </a:pPr>
            <a:r>
              <a:rPr lang="en-US" sz="1050" dirty="0">
                <a:solidFill>
                  <a:srgbClr val="2023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turnaround: days → hours; saves 3–5 admin hrs/week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6309360" y="4160520"/>
            <a:ext cx="5166360" cy="1965960"/>
          </a:xfrm>
          <a:prstGeom prst="roundRect">
            <a:avLst>
              <a:gd name="adj" fmla="val 4651"/>
            </a:avLst>
          </a:prstGeom>
          <a:solidFill>
            <a:srgbClr val="F5F6F7"/>
          </a:solidFill>
          <a:ln/>
        </p:spPr>
      </p:sp>
      <p:sp>
        <p:nvSpPr>
          <p:cNvPr id="23" name="Shape 18"/>
          <p:cNvSpPr/>
          <p:nvPr/>
        </p:nvSpPr>
        <p:spPr>
          <a:xfrm>
            <a:off x="6583680" y="4434840"/>
            <a:ext cx="502920" cy="502920"/>
          </a:xfrm>
          <a:prstGeom prst="ellipse">
            <a:avLst/>
          </a:prstGeom>
          <a:solidFill>
            <a:srgbClr val="C1502E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4572000"/>
            <a:ext cx="228600" cy="22860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223760" y="4416552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3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Service Chatbot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6583680" y="502920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36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FAQs, scheduling, and warranty questions 24/7 so office staff aren't fielding the same ten questions every day.</a:t>
            </a:r>
            <a:endParaRPr lang="en-US" sz="1150" dirty="0"/>
          </a:p>
        </p:txBody>
      </p:sp>
      <p:sp>
        <p:nvSpPr>
          <p:cNvPr id="27" name="Text 21"/>
          <p:cNvSpPr txBox="1"/>
          <p:nvPr/>
        </p:nvSpPr>
        <p:spPr>
          <a:xfrm>
            <a:off x="6583680" y="5742432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 </a:t>
            </a:r>
            <a:pPr indent="0" marL="0">
              <a:buNone/>
            </a:pPr>
            <a:r>
              <a:rPr lang="en-US" sz="1050" dirty="0">
                <a:solidFill>
                  <a:srgbClr val="2023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Deflects 40–60% of routine calls/texts; saves 5–8 office hrs/week</a:t>
            </a:r>
            <a:endParaRPr lang="en-US" sz="1050" dirty="0"/>
          </a:p>
        </p:txBody>
      </p:sp>
      <p:sp>
        <p:nvSpPr>
          <p:cNvPr id="28" name="Text 22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3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Concrete AI Use Cases — Not Buzzwords  (2 of 2)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3364992" cy="2377440"/>
          </a:xfrm>
          <a:prstGeom prst="roundRect">
            <a:avLst>
              <a:gd name="adj" fmla="val 3846"/>
            </a:avLst>
          </a:prstGeom>
          <a:solidFill>
            <a:srgbClr val="F5F6F7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743200"/>
            <a:ext cx="502920" cy="502920"/>
          </a:xfrm>
          <a:prstGeom prst="ellipse">
            <a:avLst/>
          </a:prstGeom>
          <a:solidFill>
            <a:srgbClr val="C1502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880360"/>
            <a:ext cx="228600" cy="228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2724912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3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&amp; Reputation Automation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337560"/>
            <a:ext cx="2816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36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happy customers for a review at the right moment — right after job completion, while the new roof is still exciting.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4462272"/>
            <a:ext cx="2816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 </a:t>
            </a:r>
            <a:pPr indent="0" marL="0">
              <a:buNone/>
            </a:pPr>
            <a:r>
              <a:rPr lang="en-US" sz="1050" dirty="0">
                <a:solidFill>
                  <a:srgbClr val="2023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2–3x more reviews collected, fueling referral leads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416552" y="2468880"/>
            <a:ext cx="3364992" cy="2377440"/>
          </a:xfrm>
          <a:prstGeom prst="roundRect">
            <a:avLst>
              <a:gd name="adj" fmla="val 3846"/>
            </a:avLst>
          </a:prstGeom>
          <a:solidFill>
            <a:srgbClr val="F5F6F7"/>
          </a:solidFill>
          <a:ln/>
        </p:spPr>
      </p:sp>
      <p:sp>
        <p:nvSpPr>
          <p:cNvPr id="11" name="Shape 8"/>
          <p:cNvSpPr/>
          <p:nvPr/>
        </p:nvSpPr>
        <p:spPr>
          <a:xfrm>
            <a:off x="4690872" y="2743200"/>
            <a:ext cx="502920" cy="502920"/>
          </a:xfrm>
          <a:prstGeom prst="ellipse">
            <a:avLst/>
          </a:prstGeom>
          <a:solidFill>
            <a:srgbClr val="C1502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2880360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330952" y="2724912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3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Scheduling &amp; Dispatch Optimization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4690872" y="3337560"/>
            <a:ext cx="2816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36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Sequences crew jobs by location and job type to cut windshield time and last-minute reshuffling.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4690872" y="4462272"/>
            <a:ext cx="2816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 </a:t>
            </a:r>
            <a:pPr indent="0" marL="0">
              <a:buNone/>
            </a:pPr>
            <a:r>
              <a:rPr lang="en-US" sz="1050" dirty="0">
                <a:solidFill>
                  <a:srgbClr val="2023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Reclaims 1–2 billable crew-hours per day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193024" y="2468880"/>
            <a:ext cx="3364992" cy="2377440"/>
          </a:xfrm>
          <a:prstGeom prst="roundRect">
            <a:avLst>
              <a:gd name="adj" fmla="val 3846"/>
            </a:avLst>
          </a:prstGeom>
          <a:solidFill>
            <a:srgbClr val="F5F6F7"/>
          </a:solidFill>
          <a:ln/>
        </p:spPr>
      </p:sp>
      <p:sp>
        <p:nvSpPr>
          <p:cNvPr id="17" name="Shape 13"/>
          <p:cNvSpPr/>
          <p:nvPr/>
        </p:nvSpPr>
        <p:spPr>
          <a:xfrm>
            <a:off x="8467344" y="2743200"/>
            <a:ext cx="502920" cy="502920"/>
          </a:xfrm>
          <a:prstGeom prst="ellipse">
            <a:avLst/>
          </a:prstGeom>
          <a:solidFill>
            <a:srgbClr val="C1502E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4504" y="2880360"/>
            <a:ext cx="228600" cy="2286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107424" y="2724912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3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 Content Generation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8467344" y="3337560"/>
            <a:ext cx="2816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36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Before/after posts, seasonal promos, and social captions generated in-house instead of billed by an outside creative team.</a:t>
            </a:r>
            <a:endParaRPr lang="en-US" sz="1150" dirty="0"/>
          </a:p>
        </p:txBody>
      </p:sp>
      <p:sp>
        <p:nvSpPr>
          <p:cNvPr id="21" name="Text 16"/>
          <p:cNvSpPr txBox="1"/>
          <p:nvPr/>
        </p:nvSpPr>
        <p:spPr>
          <a:xfrm>
            <a:off x="8467344" y="4462272"/>
            <a:ext cx="2816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 </a:t>
            </a:r>
            <a:pPr indent="0" marL="0">
              <a:buNone/>
            </a:pPr>
            <a:r>
              <a:rPr lang="en-US" sz="1050" dirty="0">
                <a:solidFill>
                  <a:srgbClr val="2023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$1,500–$3,000/month in agency/content spend</a:t>
            </a:r>
            <a:endParaRPr lang="en-US" sz="1050" dirty="0"/>
          </a:p>
        </p:txBody>
      </p:sp>
      <p:sp>
        <p:nvSpPr>
          <p:cNvPr id="22" name="Text 17"/>
          <p:cNvSpPr txBox="1"/>
          <p:nvPr/>
        </p:nvSpPr>
        <p:spPr>
          <a:xfrm>
            <a:off x="640080" y="52120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36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figures above are directional estimates based on typical trade-industry benchmarks — not guarantees. We validate every one against Gerry's real numbers in Phase 1.</a:t>
            </a:r>
            <a:endParaRPr lang="en-US" sz="1150" dirty="0"/>
          </a:p>
        </p:txBody>
      </p:sp>
      <p:sp>
        <p:nvSpPr>
          <p:cNvPr id="23" name="Text 18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IN-HOUSE WINS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3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In-House Beats an Outside Firm — On Cost and On Fit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5943600" cy="3749040"/>
        </p:xfrm>
        <a:graphic>
          <a:graphicData uri="http://schemas.openxmlformats.org/drawingml/2006/table">
            <a:tbl>
              <a:tblPr/>
              <a:tblGrid>
                <a:gridCol w="1981200"/>
                <a:gridCol w="1981200"/>
                <a:gridCol w="1981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6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Agency Route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6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In-House (Me)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502E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023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cost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023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$3,000 – $8,000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023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~$4,000 (est. role budget)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023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cost (12 mo.)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023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$36,000 – $96,000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023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~$48,000 (est.)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023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Roofing/trade knowledge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023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— learning curve billed to you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023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Already embedded, day one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023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Iteration speed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023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 — contracts &amp; tickets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023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Immediate — already in the building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023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Commitment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023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Locked-in retainer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023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Month-to-month, no contract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903720" y="18745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3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Cost Comparison (Estimate)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720840" y="2240280"/>
          <a:ext cx="48920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36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modest in-house pilot budget still lands well below even the low end of a typical agency retainer — with zero markup and full institutional knowledge.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3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I'm the Right Person to Build This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166360" cy="1965960"/>
          </a:xfrm>
          <a:prstGeom prst="roundRect">
            <a:avLst>
              <a:gd name="adj" fmla="val 4651"/>
            </a:avLst>
          </a:prstGeom>
          <a:solidFill>
            <a:srgbClr val="F5F6F7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48840"/>
            <a:ext cx="502920" cy="502920"/>
          </a:xfrm>
          <a:prstGeom prst="ellipse">
            <a:avLst/>
          </a:prstGeom>
          <a:solidFill>
            <a:srgbClr val="C1502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286000"/>
            <a:ext cx="228600" cy="228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2130552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3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 the Numbers Before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274320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36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years co-owning an auto parts business with my dad. I know margins, cash flow pressure, and what actually moves revenue — not from a textbook.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309360" y="1874520"/>
            <a:ext cx="5166360" cy="1965960"/>
          </a:xfrm>
          <a:prstGeom prst="roundRect">
            <a:avLst>
              <a:gd name="adj" fmla="val 4651"/>
            </a:avLst>
          </a:prstGeom>
          <a:solidFill>
            <a:srgbClr val="F5F6F7"/>
          </a:solidFill>
          <a:ln/>
        </p:spPr>
      </p:sp>
      <p:sp>
        <p:nvSpPr>
          <p:cNvPr id="10" name="Shape 7"/>
          <p:cNvSpPr/>
          <p:nvPr/>
        </p:nvSpPr>
        <p:spPr>
          <a:xfrm>
            <a:off x="6583680" y="2148840"/>
            <a:ext cx="502920" cy="502920"/>
          </a:xfrm>
          <a:prstGeom prst="ellipse">
            <a:avLst/>
          </a:prstGeom>
          <a:solidFill>
            <a:srgbClr val="C1502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28600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23760" y="2130552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3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Already Inside the Business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6583680" y="274320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36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roofing &amp; siding from the ground floor as a canvasser. I know the sales funnel and customer objections before I'd touch a single system.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4160520"/>
            <a:ext cx="5166360" cy="1965960"/>
          </a:xfrm>
          <a:prstGeom prst="roundRect">
            <a:avLst>
              <a:gd name="adj" fmla="val 4651"/>
            </a:avLst>
          </a:prstGeom>
          <a:solidFill>
            <a:srgbClr val="F5F6F7"/>
          </a:solidFill>
          <a:ln/>
        </p:spPr>
      </p:sp>
      <p:sp>
        <p:nvSpPr>
          <p:cNvPr id="15" name="Shape 11"/>
          <p:cNvSpPr/>
          <p:nvPr/>
        </p:nvSpPr>
        <p:spPr>
          <a:xfrm>
            <a:off x="914400" y="4434840"/>
            <a:ext cx="502920" cy="502920"/>
          </a:xfrm>
          <a:prstGeom prst="ellipse">
            <a:avLst/>
          </a:prstGeom>
          <a:solidFill>
            <a:srgbClr val="C1502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457200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4416552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3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Technical, Not Just Curious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14400" y="502920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36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with trading platforms and custom indicator scripting — the same analytical muscle it takes to build and configure AI tools, not just talk about them.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309360" y="4160520"/>
            <a:ext cx="5166360" cy="1965960"/>
          </a:xfrm>
          <a:prstGeom prst="roundRect">
            <a:avLst>
              <a:gd name="adj" fmla="val 4651"/>
            </a:avLst>
          </a:prstGeom>
          <a:solidFill>
            <a:srgbClr val="F5F6F7"/>
          </a:solidFill>
          <a:ln/>
        </p:spPr>
      </p:sp>
      <p:sp>
        <p:nvSpPr>
          <p:cNvPr id="20" name="Shape 15"/>
          <p:cNvSpPr/>
          <p:nvPr/>
        </p:nvSpPr>
        <p:spPr>
          <a:xfrm>
            <a:off x="6583680" y="4434840"/>
            <a:ext cx="502920" cy="502920"/>
          </a:xfrm>
          <a:prstGeom prst="ellipse">
            <a:avLst/>
          </a:prstGeom>
          <a:solidFill>
            <a:srgbClr val="C1502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4572000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223760" y="4416552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3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Already Building the Skill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6583680" y="502920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36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Actively developing AI implementation skills right now. Low ramp-up time, because I'm not starting from zero.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3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Phased 90-Day Pilot — Not an Open-Ended Ask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364992" cy="3291840"/>
          </a:xfrm>
          <a:prstGeom prst="roundRect">
            <a:avLst>
              <a:gd name="adj" fmla="val 2778"/>
            </a:avLst>
          </a:prstGeom>
          <a:solidFill>
            <a:srgbClr val="F5F6F7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697480"/>
            <a:ext cx="502920" cy="502920"/>
          </a:xfrm>
          <a:prstGeom prst="ellipse">
            <a:avLst/>
          </a:prstGeom>
          <a:solidFill>
            <a:srgbClr val="23262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27832" y="2697480"/>
            <a:ext cx="502920" cy="502920"/>
          </a:xfrm>
          <a:prstGeom prst="ellipse">
            <a:avLst/>
          </a:prstGeom>
          <a:solidFill>
            <a:srgbClr val="C1502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64992" y="2834640"/>
            <a:ext cx="228600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60120" y="3383280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1–30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960120" y="3675888"/>
            <a:ext cx="2724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3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&amp; Quick Wins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960120" y="4251960"/>
            <a:ext cx="27249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36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the lead-to-close workflow. Identify 1–2 fast automations (review requests, quote follow-ups). Zero new software spend.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059936" y="3913632"/>
            <a:ext cx="301752" cy="219456"/>
          </a:xfrm>
          <a:prstGeom prst="rightArrow">
            <a:avLst/>
          </a:prstGeom>
          <a:solidFill>
            <a:srgbClr val="8B949C"/>
          </a:solidFill>
          <a:ln/>
        </p:spPr>
      </p:sp>
      <p:sp>
        <p:nvSpPr>
          <p:cNvPr id="13" name="Shape 10"/>
          <p:cNvSpPr/>
          <p:nvPr/>
        </p:nvSpPr>
        <p:spPr>
          <a:xfrm>
            <a:off x="4416552" y="2377440"/>
            <a:ext cx="3364992" cy="3291840"/>
          </a:xfrm>
          <a:prstGeom prst="roundRect">
            <a:avLst>
              <a:gd name="adj" fmla="val 2778"/>
            </a:avLst>
          </a:prstGeom>
          <a:solidFill>
            <a:srgbClr val="F5F6F7"/>
          </a:solidFill>
          <a:ln/>
        </p:spPr>
      </p:sp>
      <p:sp>
        <p:nvSpPr>
          <p:cNvPr id="14" name="Shape 11"/>
          <p:cNvSpPr/>
          <p:nvPr/>
        </p:nvSpPr>
        <p:spPr>
          <a:xfrm>
            <a:off x="4736592" y="2697480"/>
            <a:ext cx="502920" cy="502920"/>
          </a:xfrm>
          <a:prstGeom prst="ellipse">
            <a:avLst/>
          </a:prstGeom>
          <a:solidFill>
            <a:srgbClr val="232627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736592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7004304" y="2697480"/>
            <a:ext cx="502920" cy="502920"/>
          </a:xfrm>
          <a:prstGeom prst="ellipse">
            <a:avLst/>
          </a:prstGeom>
          <a:solidFill>
            <a:srgbClr val="C1502E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1464" y="2834640"/>
            <a:ext cx="228600" cy="2286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4736592" y="3383280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31–60</a:t>
            </a:r>
            <a:endParaRPr lang="en-US" sz="1050" dirty="0"/>
          </a:p>
        </p:txBody>
      </p:sp>
      <p:sp>
        <p:nvSpPr>
          <p:cNvPr id="19" name="Text 15"/>
          <p:cNvSpPr txBox="1"/>
          <p:nvPr/>
        </p:nvSpPr>
        <p:spPr>
          <a:xfrm>
            <a:off x="4736592" y="3675888"/>
            <a:ext cx="2724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3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1–2 Tools</a:t>
            </a:r>
            <a:endParaRPr lang="en-US" sz="1800" dirty="0"/>
          </a:p>
        </p:txBody>
      </p:sp>
      <p:sp>
        <p:nvSpPr>
          <p:cNvPr id="20" name="Text 16"/>
          <p:cNvSpPr txBox="1"/>
          <p:nvPr/>
        </p:nvSpPr>
        <p:spPr>
          <a:xfrm>
            <a:off x="4736592" y="4251960"/>
            <a:ext cx="27249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36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the stalled-quote follow-up sequence and pilot lead scoring on canvassing routes.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7836408" y="3913632"/>
            <a:ext cx="301752" cy="219456"/>
          </a:xfrm>
          <a:prstGeom prst="rightArrow">
            <a:avLst/>
          </a:prstGeom>
          <a:solidFill>
            <a:srgbClr val="8B949C"/>
          </a:solidFill>
          <a:ln/>
        </p:spPr>
      </p:sp>
      <p:sp>
        <p:nvSpPr>
          <p:cNvPr id="22" name="Shape 18"/>
          <p:cNvSpPr/>
          <p:nvPr/>
        </p:nvSpPr>
        <p:spPr>
          <a:xfrm>
            <a:off x="8193024" y="2377440"/>
            <a:ext cx="3364992" cy="3291840"/>
          </a:xfrm>
          <a:prstGeom prst="roundRect">
            <a:avLst>
              <a:gd name="adj" fmla="val 2778"/>
            </a:avLst>
          </a:prstGeom>
          <a:solidFill>
            <a:srgbClr val="F5F6F7"/>
          </a:solidFill>
          <a:ln/>
        </p:spPr>
      </p:sp>
      <p:sp>
        <p:nvSpPr>
          <p:cNvPr id="23" name="Shape 19"/>
          <p:cNvSpPr/>
          <p:nvPr/>
        </p:nvSpPr>
        <p:spPr>
          <a:xfrm>
            <a:off x="8513064" y="2697480"/>
            <a:ext cx="502920" cy="502920"/>
          </a:xfrm>
          <a:prstGeom prst="ellipse">
            <a:avLst/>
          </a:prstGeom>
          <a:solidFill>
            <a:srgbClr val="232627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8513064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Shape 21"/>
          <p:cNvSpPr/>
          <p:nvPr/>
        </p:nvSpPr>
        <p:spPr>
          <a:xfrm>
            <a:off x="10780776" y="2697480"/>
            <a:ext cx="502920" cy="502920"/>
          </a:xfrm>
          <a:prstGeom prst="ellipse">
            <a:avLst/>
          </a:prstGeom>
          <a:solidFill>
            <a:srgbClr val="C1502E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7936" y="2834640"/>
            <a:ext cx="228600" cy="228600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8513064" y="3383280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61–90</a:t>
            </a:r>
            <a:endParaRPr lang="en-US" sz="1050" dirty="0"/>
          </a:p>
        </p:txBody>
      </p:sp>
      <p:sp>
        <p:nvSpPr>
          <p:cNvPr id="28" name="Text 23"/>
          <p:cNvSpPr txBox="1"/>
          <p:nvPr/>
        </p:nvSpPr>
        <p:spPr>
          <a:xfrm>
            <a:off x="8513064" y="3675888"/>
            <a:ext cx="2724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3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 &amp; Expand</a:t>
            </a:r>
            <a:endParaRPr lang="en-US" sz="1800" dirty="0"/>
          </a:p>
        </p:txBody>
      </p:sp>
      <p:sp>
        <p:nvSpPr>
          <p:cNvPr id="29" name="Text 24"/>
          <p:cNvSpPr txBox="1"/>
          <p:nvPr/>
        </p:nvSpPr>
        <p:spPr>
          <a:xfrm>
            <a:off x="8513064" y="4251960"/>
            <a:ext cx="27249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36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close-rate and time-saved numbers against Phase 1 baseline. Decide what scales next.</a:t>
            </a:r>
            <a:endParaRPr lang="en-US" sz="1250" dirty="0"/>
          </a:p>
        </p:txBody>
      </p:sp>
      <p:sp>
        <p:nvSpPr>
          <p:cNvPr id="30" name="Text 25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3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Defined, Low-Risk Pilot — Not a Blank Check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569464"/>
            <a:ext cx="146304" cy="146304"/>
          </a:xfrm>
          <a:prstGeom prst="ellipse">
            <a:avLst/>
          </a:prstGeom>
          <a:solidFill>
            <a:srgbClr val="C1502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2441448"/>
            <a:ext cx="5989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2023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defined 90-day budget/role to pilot this internally — a fraction of one month's typical agency retainer.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3666744"/>
            <a:ext cx="146304" cy="146304"/>
          </a:xfrm>
          <a:prstGeom prst="ellipse">
            <a:avLst/>
          </a:prstGeom>
          <a:solidFill>
            <a:srgbClr val="C1502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0120" y="3538728"/>
            <a:ext cx="5989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2023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check-ins at Day 30, 60, and 90 measured against agreed metrics (conversion, hours saved, reviews).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4764024"/>
            <a:ext cx="146304" cy="146304"/>
          </a:xfrm>
          <a:prstGeom prst="ellipse">
            <a:avLst/>
          </a:prstGeom>
          <a:solidFill>
            <a:srgbClr val="C1502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0120" y="4636008"/>
            <a:ext cx="5989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2023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long-term contract. No agency markup. Full visibility into what's working and what isn't.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360920" y="2103120"/>
            <a:ext cx="4160520" cy="3977640"/>
          </a:xfrm>
          <a:prstGeom prst="roundRect">
            <a:avLst>
              <a:gd name="adj" fmla="val 2759"/>
            </a:avLst>
          </a:prstGeom>
          <a:solidFill>
            <a:srgbClr val="232627"/>
          </a:solidFill>
          <a:ln/>
        </p:spPr>
      </p:sp>
      <p:sp>
        <p:nvSpPr>
          <p:cNvPr id="11" name="Shape 9"/>
          <p:cNvSpPr/>
          <p:nvPr/>
        </p:nvSpPr>
        <p:spPr>
          <a:xfrm>
            <a:off x="9075420" y="2606040"/>
            <a:ext cx="731520" cy="731520"/>
          </a:xfrm>
          <a:prstGeom prst="ellipse">
            <a:avLst/>
          </a:prstGeom>
          <a:solidFill>
            <a:srgbClr val="C1502E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2580" y="2743200"/>
            <a:ext cx="457200" cy="45720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7543800" y="370332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1 MONTH</a:t>
            </a:r>
            <a:endParaRPr lang="en-US" sz="3400" dirty="0"/>
          </a:p>
        </p:txBody>
      </p:sp>
      <p:sp>
        <p:nvSpPr>
          <p:cNvPr id="14" name="Text 11"/>
          <p:cNvSpPr txBox="1"/>
          <p:nvPr/>
        </p:nvSpPr>
        <p:spPr>
          <a:xfrm>
            <a:off x="7726680" y="448056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B9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 typical agency retainer covers the entire 90-day in-house pilot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618220" y="5303520"/>
            <a:ext cx="1645920" cy="0"/>
          </a:xfrm>
          <a:prstGeom prst="line">
            <a:avLst/>
          </a:prstGeom>
          <a:noFill/>
          <a:ln w="19050">
            <a:solidFill>
              <a:srgbClr val="C1502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680960" y="544068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B9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doesn't move the needle by Day 90, we know for a fraction of the cost — with zero contract to unwind.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326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5394960" y="82296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88720" y="2514600"/>
            <a:ext cx="9784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Gerry's doesn't need to buy AI from a stranger.</a:t>
            </a:r>
            <a:endParaRPr lang="en-US" sz="27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needs to build it with someone who already knows the business.</a:t>
            </a:r>
            <a:endParaRPr lang="en-US" sz="2700" dirty="0"/>
          </a:p>
        </p:txBody>
      </p:sp>
      <p:sp>
        <p:nvSpPr>
          <p:cNvPr id="4" name="Text 1"/>
          <p:cNvSpPr txBox="1"/>
          <p:nvPr/>
        </p:nvSpPr>
        <p:spPr>
          <a:xfrm>
            <a:off x="1188720" y="434340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start the 90-day pilot.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088636" y="5074920"/>
            <a:ext cx="2011680" cy="0"/>
          </a:xfrm>
          <a:prstGeom prst="line">
            <a:avLst/>
          </a:prstGeom>
          <a:noFill/>
          <a:ln w="19050">
            <a:solidFill>
              <a:srgbClr val="5C667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188720" y="525780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Mike Stringer  •  Community Outreach Representative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2026-09-09T08:07:22Z</dcterms:created>
  <dcterms:modified xsi:type="dcterms:W3CDTF">2026-09-09T08:07:22Z</dcterms:modified>
</cp:coreProperties>
</file>